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nton" panose="020F0502020204030204" pitchFamily="2" charset="0"/>
      <p:regular r:id="rId8"/>
    </p:embeddedFont>
    <p:embeddedFont>
      <p:font typeface="Canva Sans" panose="020B0604020202020204" charset="0"/>
      <p:regular r:id="rId9"/>
    </p:embeddedFont>
    <p:embeddedFont>
      <p:font typeface="Canva Sans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942285" y="2476500"/>
            <a:ext cx="16517730" cy="0"/>
          </a:xfrm>
          <a:prstGeom prst="line">
            <a:avLst/>
          </a:prstGeom>
          <a:ln w="104775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flipH="1">
            <a:off x="1201727" y="910874"/>
            <a:ext cx="0" cy="1830919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H="1">
            <a:off x="17211675" y="878033"/>
            <a:ext cx="0" cy="1830919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1354127" y="1597734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7050873" y="1566634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4809664" y="434545"/>
            <a:ext cx="2065449" cy="1770655"/>
          </a:xfrm>
          <a:custGeom>
            <a:avLst/>
            <a:gdLst/>
            <a:ahLst/>
            <a:cxnLst/>
            <a:rect l="l" t="t" r="r" b="b"/>
            <a:pathLst>
              <a:path w="2065449" h="1770655">
                <a:moveTo>
                  <a:pt x="0" y="0"/>
                </a:moveTo>
                <a:lnTo>
                  <a:pt x="2065449" y="0"/>
                </a:lnTo>
                <a:lnTo>
                  <a:pt x="2065449" y="1770655"/>
                </a:lnTo>
                <a:lnTo>
                  <a:pt x="0" y="177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487" r="-4487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741165" y="2994817"/>
            <a:ext cx="83811" cy="83811"/>
          </a:xfrm>
          <a:custGeom>
            <a:avLst/>
            <a:gdLst/>
            <a:ahLst/>
            <a:cxnLst/>
            <a:rect l="l" t="t" r="r" b="b"/>
            <a:pathLst>
              <a:path w="83811" h="83811">
                <a:moveTo>
                  <a:pt x="0" y="0"/>
                </a:moveTo>
                <a:lnTo>
                  <a:pt x="83810" y="0"/>
                </a:lnTo>
                <a:lnTo>
                  <a:pt x="83810" y="83811"/>
                </a:lnTo>
                <a:lnTo>
                  <a:pt x="0" y="83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741165" y="2994817"/>
            <a:ext cx="83811" cy="83811"/>
          </a:xfrm>
          <a:custGeom>
            <a:avLst/>
            <a:gdLst/>
            <a:ahLst/>
            <a:cxnLst/>
            <a:rect l="l" t="t" r="r" b="b"/>
            <a:pathLst>
              <a:path w="83811" h="83811">
                <a:moveTo>
                  <a:pt x="0" y="0"/>
                </a:moveTo>
                <a:lnTo>
                  <a:pt x="83810" y="0"/>
                </a:lnTo>
                <a:lnTo>
                  <a:pt x="83810" y="83811"/>
                </a:lnTo>
                <a:lnTo>
                  <a:pt x="0" y="83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574720" y="3115568"/>
            <a:ext cx="133187" cy="91908"/>
            <a:chOff x="0" y="0"/>
            <a:chExt cx="741680" cy="511810"/>
          </a:xfrm>
        </p:grpSpPr>
        <p:sp>
          <p:nvSpPr>
            <p:cNvPr id="12" name="Freeform 12"/>
            <p:cNvSpPr/>
            <p:nvPr/>
          </p:nvSpPr>
          <p:spPr>
            <a:xfrm>
              <a:off x="49030" y="50440"/>
              <a:ext cx="641009" cy="411600"/>
            </a:xfrm>
            <a:custGeom>
              <a:avLst/>
              <a:gdLst/>
              <a:ahLst/>
              <a:cxnLst/>
              <a:rect l="l" t="t" r="r" b="b"/>
              <a:pathLst>
                <a:path w="641009" h="411600">
                  <a:moveTo>
                    <a:pt x="18280" y="338180"/>
                  </a:moveTo>
                  <a:cubicBezTo>
                    <a:pt x="429760" y="80370"/>
                    <a:pt x="532630" y="4170"/>
                    <a:pt x="583430" y="360"/>
                  </a:cubicBezTo>
                  <a:cubicBezTo>
                    <a:pt x="605020" y="-2180"/>
                    <a:pt x="624070" y="9250"/>
                    <a:pt x="632960" y="18140"/>
                  </a:cubicBezTo>
                  <a:cubicBezTo>
                    <a:pt x="640580" y="25760"/>
                    <a:pt x="641850" y="37190"/>
                    <a:pt x="640580" y="46080"/>
                  </a:cubicBezTo>
                  <a:cubicBezTo>
                    <a:pt x="638040" y="57510"/>
                    <a:pt x="627880" y="75290"/>
                    <a:pt x="617720" y="81640"/>
                  </a:cubicBezTo>
                  <a:cubicBezTo>
                    <a:pt x="610100" y="86720"/>
                    <a:pt x="598670" y="89260"/>
                    <a:pt x="589780" y="86720"/>
                  </a:cubicBezTo>
                  <a:cubicBezTo>
                    <a:pt x="578350" y="84180"/>
                    <a:pt x="561840" y="74020"/>
                    <a:pt x="555490" y="62590"/>
                  </a:cubicBezTo>
                  <a:cubicBezTo>
                    <a:pt x="550410" y="51160"/>
                    <a:pt x="551680" y="30840"/>
                    <a:pt x="556760" y="20680"/>
                  </a:cubicBezTo>
                  <a:cubicBezTo>
                    <a:pt x="560570" y="11790"/>
                    <a:pt x="569460" y="4170"/>
                    <a:pt x="578350" y="1630"/>
                  </a:cubicBezTo>
                  <a:cubicBezTo>
                    <a:pt x="591050" y="-910"/>
                    <a:pt x="621530" y="4170"/>
                    <a:pt x="630420" y="14330"/>
                  </a:cubicBezTo>
                  <a:cubicBezTo>
                    <a:pt x="639310" y="24490"/>
                    <a:pt x="644390" y="42270"/>
                    <a:pt x="638040" y="56240"/>
                  </a:cubicBezTo>
                  <a:cubicBezTo>
                    <a:pt x="630420" y="77830"/>
                    <a:pt x="593590" y="94340"/>
                    <a:pt x="551680" y="123550"/>
                  </a:cubicBezTo>
                  <a:cubicBezTo>
                    <a:pt x="455160" y="188320"/>
                    <a:pt x="114800" y="394060"/>
                    <a:pt x="51300" y="409300"/>
                  </a:cubicBezTo>
                  <a:cubicBezTo>
                    <a:pt x="36060" y="413110"/>
                    <a:pt x="30980" y="411840"/>
                    <a:pt x="23360" y="408030"/>
                  </a:cubicBezTo>
                  <a:cubicBezTo>
                    <a:pt x="14470" y="404220"/>
                    <a:pt x="6850" y="396600"/>
                    <a:pt x="3040" y="387710"/>
                  </a:cubicBezTo>
                  <a:cubicBezTo>
                    <a:pt x="-770" y="380090"/>
                    <a:pt x="-770" y="368660"/>
                    <a:pt x="1770" y="361040"/>
                  </a:cubicBezTo>
                  <a:cubicBezTo>
                    <a:pt x="4310" y="352150"/>
                    <a:pt x="18280" y="338180"/>
                    <a:pt x="18280" y="338180"/>
                  </a:cubicBezTo>
                </a:path>
              </a:pathLst>
            </a:custGeom>
            <a:solidFill>
              <a:srgbClr val="BDFF4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574720" y="3115568"/>
            <a:ext cx="133187" cy="91908"/>
            <a:chOff x="0" y="0"/>
            <a:chExt cx="741680" cy="511810"/>
          </a:xfrm>
        </p:grpSpPr>
        <p:sp>
          <p:nvSpPr>
            <p:cNvPr id="14" name="Freeform 14"/>
            <p:cNvSpPr/>
            <p:nvPr/>
          </p:nvSpPr>
          <p:spPr>
            <a:xfrm>
              <a:off x="49030" y="50440"/>
              <a:ext cx="641009" cy="411600"/>
            </a:xfrm>
            <a:custGeom>
              <a:avLst/>
              <a:gdLst/>
              <a:ahLst/>
              <a:cxnLst/>
              <a:rect l="l" t="t" r="r" b="b"/>
              <a:pathLst>
                <a:path w="641009" h="411600">
                  <a:moveTo>
                    <a:pt x="18280" y="338180"/>
                  </a:moveTo>
                  <a:cubicBezTo>
                    <a:pt x="429760" y="80370"/>
                    <a:pt x="532630" y="4170"/>
                    <a:pt x="583430" y="360"/>
                  </a:cubicBezTo>
                  <a:cubicBezTo>
                    <a:pt x="605020" y="-2180"/>
                    <a:pt x="624070" y="9250"/>
                    <a:pt x="632960" y="18140"/>
                  </a:cubicBezTo>
                  <a:cubicBezTo>
                    <a:pt x="640580" y="25760"/>
                    <a:pt x="641850" y="37190"/>
                    <a:pt x="640580" y="46080"/>
                  </a:cubicBezTo>
                  <a:cubicBezTo>
                    <a:pt x="638040" y="57510"/>
                    <a:pt x="627880" y="75290"/>
                    <a:pt x="617720" y="81640"/>
                  </a:cubicBezTo>
                  <a:cubicBezTo>
                    <a:pt x="610100" y="86720"/>
                    <a:pt x="598670" y="89260"/>
                    <a:pt x="589780" y="86720"/>
                  </a:cubicBezTo>
                  <a:cubicBezTo>
                    <a:pt x="578350" y="84180"/>
                    <a:pt x="561840" y="74020"/>
                    <a:pt x="555490" y="62590"/>
                  </a:cubicBezTo>
                  <a:cubicBezTo>
                    <a:pt x="550410" y="51160"/>
                    <a:pt x="551680" y="30840"/>
                    <a:pt x="556760" y="20680"/>
                  </a:cubicBezTo>
                  <a:cubicBezTo>
                    <a:pt x="560570" y="11790"/>
                    <a:pt x="569460" y="4170"/>
                    <a:pt x="578350" y="1630"/>
                  </a:cubicBezTo>
                  <a:cubicBezTo>
                    <a:pt x="591050" y="-910"/>
                    <a:pt x="621530" y="4170"/>
                    <a:pt x="630420" y="14330"/>
                  </a:cubicBezTo>
                  <a:cubicBezTo>
                    <a:pt x="639310" y="24490"/>
                    <a:pt x="644390" y="42270"/>
                    <a:pt x="638040" y="56240"/>
                  </a:cubicBezTo>
                  <a:cubicBezTo>
                    <a:pt x="630420" y="77830"/>
                    <a:pt x="593590" y="94340"/>
                    <a:pt x="551680" y="123550"/>
                  </a:cubicBezTo>
                  <a:cubicBezTo>
                    <a:pt x="455160" y="188320"/>
                    <a:pt x="114800" y="394060"/>
                    <a:pt x="51300" y="409300"/>
                  </a:cubicBezTo>
                  <a:cubicBezTo>
                    <a:pt x="36060" y="413110"/>
                    <a:pt x="30980" y="411840"/>
                    <a:pt x="23360" y="408030"/>
                  </a:cubicBezTo>
                  <a:cubicBezTo>
                    <a:pt x="14470" y="404220"/>
                    <a:pt x="6850" y="396600"/>
                    <a:pt x="3040" y="387710"/>
                  </a:cubicBezTo>
                  <a:cubicBezTo>
                    <a:pt x="-770" y="380090"/>
                    <a:pt x="-770" y="368660"/>
                    <a:pt x="1770" y="361040"/>
                  </a:cubicBezTo>
                  <a:cubicBezTo>
                    <a:pt x="4310" y="352150"/>
                    <a:pt x="18280" y="338180"/>
                    <a:pt x="18280" y="338180"/>
                  </a:cubicBezTo>
                </a:path>
              </a:pathLst>
            </a:custGeom>
            <a:solidFill>
              <a:srgbClr val="BDFF42"/>
            </a:solidFill>
            <a:ln cap="sq">
              <a:noFill/>
              <a:prstDash val="solid"/>
              <a:miter/>
            </a:ln>
          </p:spPr>
        </p:sp>
      </p:grpSp>
      <p:sp>
        <p:nvSpPr>
          <p:cNvPr id="15" name="AutoShape 15"/>
          <p:cNvSpPr/>
          <p:nvPr/>
        </p:nvSpPr>
        <p:spPr>
          <a:xfrm>
            <a:off x="5384703" y="4913490"/>
            <a:ext cx="906533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5083292" y="5044915"/>
            <a:ext cx="0" cy="25219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7713438" y="4996286"/>
            <a:ext cx="83811" cy="83811"/>
          </a:xfrm>
          <a:custGeom>
            <a:avLst/>
            <a:gdLst/>
            <a:ahLst/>
            <a:cxnLst/>
            <a:rect l="l" t="t" r="r" b="b"/>
            <a:pathLst>
              <a:path w="83811" h="83811">
                <a:moveTo>
                  <a:pt x="0" y="0"/>
                </a:moveTo>
                <a:lnTo>
                  <a:pt x="83811" y="0"/>
                </a:lnTo>
                <a:lnTo>
                  <a:pt x="83811" y="83810"/>
                </a:lnTo>
                <a:lnTo>
                  <a:pt x="0" y="83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AutoShape 18"/>
          <p:cNvSpPr/>
          <p:nvPr/>
        </p:nvSpPr>
        <p:spPr>
          <a:xfrm>
            <a:off x="5083292" y="5044915"/>
            <a:ext cx="0" cy="25219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Freeform 19"/>
          <p:cNvSpPr/>
          <p:nvPr/>
        </p:nvSpPr>
        <p:spPr>
          <a:xfrm>
            <a:off x="7713438" y="4996286"/>
            <a:ext cx="83811" cy="83811"/>
          </a:xfrm>
          <a:custGeom>
            <a:avLst/>
            <a:gdLst/>
            <a:ahLst/>
            <a:cxnLst/>
            <a:rect l="l" t="t" r="r" b="b"/>
            <a:pathLst>
              <a:path w="83811" h="83811">
                <a:moveTo>
                  <a:pt x="0" y="0"/>
                </a:moveTo>
                <a:lnTo>
                  <a:pt x="83811" y="0"/>
                </a:lnTo>
                <a:lnTo>
                  <a:pt x="83811" y="83810"/>
                </a:lnTo>
                <a:lnTo>
                  <a:pt x="0" y="83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942285" y="6678999"/>
            <a:ext cx="16575225" cy="1722707"/>
            <a:chOff x="0" y="0"/>
            <a:chExt cx="22100300" cy="229694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011820" cy="2296942"/>
            </a:xfrm>
            <a:custGeom>
              <a:avLst/>
              <a:gdLst/>
              <a:ahLst/>
              <a:cxnLst/>
              <a:rect l="l" t="t" r="r" b="b"/>
              <a:pathLst>
                <a:path w="11011820" h="2296942">
                  <a:moveTo>
                    <a:pt x="0" y="0"/>
                  </a:moveTo>
                  <a:lnTo>
                    <a:pt x="11011820" y="0"/>
                  </a:lnTo>
                  <a:lnTo>
                    <a:pt x="11011820" y="2296942"/>
                  </a:lnTo>
                  <a:lnTo>
                    <a:pt x="0" y="22969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176" t="-372983" r="-114954" b="-13142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1270796" y="664957"/>
              <a:ext cx="3873624" cy="6667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TEAM NAME:</a:t>
              </a:r>
            </a:p>
          </p:txBody>
        </p:sp>
        <p:sp>
          <p:nvSpPr>
            <p:cNvPr id="23" name="Freeform 23"/>
            <p:cNvSpPr/>
            <p:nvPr/>
          </p:nvSpPr>
          <p:spPr>
            <a:xfrm flipH="1">
              <a:off x="11088480" y="0"/>
              <a:ext cx="11011820" cy="2296942"/>
            </a:xfrm>
            <a:custGeom>
              <a:avLst/>
              <a:gdLst/>
              <a:ahLst/>
              <a:cxnLst/>
              <a:rect l="l" t="t" r="r" b="b"/>
              <a:pathLst>
                <a:path w="11011820" h="2296942">
                  <a:moveTo>
                    <a:pt x="11011820" y="0"/>
                  </a:moveTo>
                  <a:lnTo>
                    <a:pt x="0" y="0"/>
                  </a:lnTo>
                  <a:lnTo>
                    <a:pt x="0" y="2296942"/>
                  </a:lnTo>
                  <a:lnTo>
                    <a:pt x="11011820" y="2296942"/>
                  </a:lnTo>
                  <a:lnTo>
                    <a:pt x="11011820" y="0"/>
                  </a:lnTo>
                  <a:close/>
                </a:path>
              </a:pathLst>
            </a:custGeom>
            <a:blipFill>
              <a:blip r:embed="rId5"/>
              <a:stretch>
                <a:fillRect l="-9176" t="-372983" r="-114954" b="-131427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11724705" y="703057"/>
              <a:ext cx="2563713" cy="6667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DOMAIN :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1558502" y="668491"/>
            <a:ext cx="1690640" cy="1591267"/>
          </a:xfrm>
          <a:custGeom>
            <a:avLst/>
            <a:gdLst/>
            <a:ahLst/>
            <a:cxnLst/>
            <a:rect l="l" t="t" r="r" b="b"/>
            <a:pathLst>
              <a:path w="1690640" h="1591267">
                <a:moveTo>
                  <a:pt x="0" y="0"/>
                </a:moveTo>
                <a:lnTo>
                  <a:pt x="1690640" y="0"/>
                </a:lnTo>
                <a:lnTo>
                  <a:pt x="1690640" y="1591267"/>
                </a:lnTo>
                <a:lnTo>
                  <a:pt x="0" y="1591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2601885" y="2862815"/>
            <a:ext cx="13084230" cy="2396050"/>
          </a:xfrm>
          <a:custGeom>
            <a:avLst/>
            <a:gdLst/>
            <a:ahLst/>
            <a:cxnLst/>
            <a:rect l="l" t="t" r="r" b="b"/>
            <a:pathLst>
              <a:path w="13084230" h="2396050">
                <a:moveTo>
                  <a:pt x="0" y="0"/>
                </a:moveTo>
                <a:lnTo>
                  <a:pt x="13084230" y="0"/>
                </a:lnTo>
                <a:lnTo>
                  <a:pt x="13084230" y="2396050"/>
                </a:lnTo>
                <a:lnTo>
                  <a:pt x="0" y="23960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3866369" y="5239790"/>
            <a:ext cx="10775669" cy="778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45"/>
              </a:lnSpc>
              <a:spcBef>
                <a:spcPct val="0"/>
              </a:spcBef>
            </a:pPr>
            <a:r>
              <a:rPr lang="en-US" sz="4603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&lt;&lt;  Architecting an Autonomous Tomorrow.  &gt;&gt;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403455" y="592291"/>
            <a:ext cx="12912745" cy="68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5"/>
              </a:lnSpc>
              <a:spcBef>
                <a:spcPct val="0"/>
              </a:spcBef>
            </a:pPr>
            <a:r>
              <a:rPr lang="en-US" sz="4003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VIDYAVARDHAKA COLLEGE OF ENGINEERING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566486" y="1280884"/>
            <a:ext cx="11855146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D9D9D9"/>
                </a:solidFill>
                <a:latin typeface="Canva Sans"/>
                <a:ea typeface="Canva Sans"/>
                <a:cs typeface="Canva Sans"/>
                <a:sym typeface="Canva Sans"/>
              </a:rPr>
              <a:t>Autonomous Institute | Accredited by NAAC with 'A' Grade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137419" y="1830363"/>
            <a:ext cx="5697967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C1FF72"/>
                </a:solidFill>
                <a:latin typeface="Canva Sans"/>
                <a:ea typeface="Canva Sans"/>
                <a:cs typeface="Canva Sans"/>
                <a:sym typeface="Canva Sans"/>
              </a:rPr>
              <a:t>Gokulam 3rd Stage, Mysuru - 570002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885135" y="1650121"/>
            <a:ext cx="16517730" cy="0"/>
          </a:xfrm>
          <a:prstGeom prst="line">
            <a:avLst/>
          </a:prstGeom>
          <a:ln w="104775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549006" y="940118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682356" y="489288"/>
            <a:ext cx="1177667" cy="1108446"/>
          </a:xfrm>
          <a:custGeom>
            <a:avLst/>
            <a:gdLst/>
            <a:ahLst/>
            <a:cxnLst/>
            <a:rect l="l" t="t" r="r" b="b"/>
            <a:pathLst>
              <a:path w="1177667" h="1108446">
                <a:moveTo>
                  <a:pt x="0" y="0"/>
                </a:moveTo>
                <a:lnTo>
                  <a:pt x="1177667" y="0"/>
                </a:lnTo>
                <a:lnTo>
                  <a:pt x="1177667" y="1108446"/>
                </a:lnTo>
                <a:lnTo>
                  <a:pt x="0" y="11084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974323" y="374988"/>
            <a:ext cx="8042229" cy="1046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32"/>
              </a:lnSpc>
              <a:spcBef>
                <a:spcPct val="0"/>
              </a:spcBef>
            </a:pPr>
            <a:r>
              <a:rPr lang="en-US" sz="6166" spc="314">
                <a:solidFill>
                  <a:srgbClr val="C1FF72"/>
                </a:solidFill>
                <a:latin typeface="Anton"/>
                <a:ea typeface="Anton"/>
                <a:cs typeface="Anton"/>
                <a:sym typeface="Anton"/>
              </a:rPr>
              <a:t>PROBLEM IDENTIFICATION</a:t>
            </a:r>
          </a:p>
        </p:txBody>
      </p:sp>
      <p:sp>
        <p:nvSpPr>
          <p:cNvPr id="7" name="AutoShape 7"/>
          <p:cNvSpPr/>
          <p:nvPr/>
        </p:nvSpPr>
        <p:spPr>
          <a:xfrm>
            <a:off x="1387081" y="1053036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977478" y="2217249"/>
            <a:ext cx="14333043" cy="5006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6"/>
              </a:lnSpc>
            </a:pPr>
            <a:r>
              <a:rPr lang="en-US" sz="2397" b="1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Innovation Focus:</a:t>
            </a:r>
          </a:p>
          <a:p>
            <a:pPr algn="l">
              <a:lnSpc>
                <a:spcPts val="3356"/>
              </a:lnSpc>
            </a:pPr>
            <a:r>
              <a:rPr lang="en-US" sz="239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Propose a creative and forward-thinking solution specifically designed to address the needs of the chosen domain.</a:t>
            </a:r>
          </a:p>
          <a:p>
            <a:pPr algn="l">
              <a:lnSpc>
                <a:spcPts val="3356"/>
              </a:lnSpc>
            </a:pPr>
            <a:endParaRPr lang="en-US" sz="2397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356"/>
              </a:lnSpc>
            </a:pPr>
            <a:r>
              <a:rPr lang="en-US" sz="2397" b="1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Definition:</a:t>
            </a:r>
          </a:p>
          <a:p>
            <a:pPr algn="l">
              <a:lnSpc>
                <a:spcPts val="3356"/>
              </a:lnSpc>
            </a:pPr>
            <a:r>
              <a:rPr lang="en-US" sz="239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Clearly define the core problem, its underlying causes, and the challenges that need to be addressed.</a:t>
            </a:r>
          </a:p>
          <a:p>
            <a:pPr algn="l">
              <a:lnSpc>
                <a:spcPts val="3356"/>
              </a:lnSpc>
            </a:pPr>
            <a:endParaRPr lang="en-US" sz="2397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356"/>
              </a:lnSpc>
            </a:pPr>
            <a:r>
              <a:rPr lang="en-US" sz="2397" b="1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Market Analysis:</a:t>
            </a:r>
          </a:p>
          <a:p>
            <a:pPr algn="l">
              <a:lnSpc>
                <a:spcPts val="3356"/>
              </a:lnSpc>
            </a:pPr>
            <a:r>
              <a:rPr lang="en-US" sz="239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Examine existing solutions, technologies, and approaches, highlighting their strengths, limitations, and the opportunities your solution can improve upon.</a:t>
            </a:r>
          </a:p>
          <a:p>
            <a:pPr algn="l">
              <a:lnSpc>
                <a:spcPts val="3356"/>
              </a:lnSpc>
            </a:pPr>
            <a:endParaRPr lang="en-US" sz="2397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885135" y="1656923"/>
            <a:ext cx="16517730" cy="0"/>
          </a:xfrm>
          <a:prstGeom prst="line">
            <a:avLst/>
          </a:prstGeom>
          <a:ln w="104775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626615" y="880213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2622334" y="413346"/>
            <a:ext cx="7607944" cy="2134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32"/>
              </a:lnSpc>
            </a:pPr>
            <a:r>
              <a:rPr lang="en-US" sz="6166" spc="314">
                <a:solidFill>
                  <a:srgbClr val="C1FF72"/>
                </a:solidFill>
                <a:latin typeface="Anton"/>
                <a:ea typeface="Anton"/>
                <a:cs typeface="Anton"/>
                <a:sym typeface="Anton"/>
              </a:rPr>
              <a:t>PROPOSED SOLUTION</a:t>
            </a:r>
          </a:p>
          <a:p>
            <a:pPr algn="ctr">
              <a:lnSpc>
                <a:spcPts val="8632"/>
              </a:lnSpc>
              <a:spcBef>
                <a:spcPct val="0"/>
              </a:spcBef>
            </a:pPr>
            <a:endParaRPr lang="en-US" sz="6166" spc="314">
              <a:solidFill>
                <a:srgbClr val="C1FF72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977478" y="386190"/>
            <a:ext cx="1223557" cy="1151639"/>
          </a:xfrm>
          <a:custGeom>
            <a:avLst/>
            <a:gdLst/>
            <a:ahLst/>
            <a:cxnLst/>
            <a:rect l="l" t="t" r="r" b="b"/>
            <a:pathLst>
              <a:path w="1223557" h="1151639">
                <a:moveTo>
                  <a:pt x="0" y="0"/>
                </a:moveTo>
                <a:lnTo>
                  <a:pt x="1223557" y="0"/>
                </a:lnTo>
                <a:lnTo>
                  <a:pt x="1223557" y="1151638"/>
                </a:lnTo>
                <a:lnTo>
                  <a:pt x="0" y="11516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977478" y="2305831"/>
            <a:ext cx="14333043" cy="6345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6"/>
              </a:lnSpc>
            </a:pPr>
            <a:r>
              <a:rPr lang="en-US" sz="2397" b="1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Solution Overview:</a:t>
            </a:r>
          </a:p>
          <a:p>
            <a:pPr algn="l">
              <a:lnSpc>
                <a:spcPts val="3356"/>
              </a:lnSpc>
            </a:pPr>
            <a:r>
              <a:rPr lang="en-US" sz="239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Provide a clear and concise explanation of the proposed solution and how it delivers an effective approach to the problem.</a:t>
            </a:r>
          </a:p>
          <a:p>
            <a:pPr algn="l">
              <a:lnSpc>
                <a:spcPts val="3356"/>
              </a:lnSpc>
            </a:pPr>
            <a:endParaRPr lang="en-US" sz="2397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356"/>
              </a:lnSpc>
            </a:pPr>
            <a:r>
              <a:rPr lang="en-US" sz="2397" b="1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Resolution:</a:t>
            </a:r>
          </a:p>
          <a:p>
            <a:pPr algn="l">
              <a:lnSpc>
                <a:spcPts val="3356"/>
              </a:lnSpc>
            </a:pPr>
            <a:r>
              <a:rPr lang="en-US" sz="239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Explain how the solution tackles the key challenges and provides practical, targeted outcomes.</a:t>
            </a:r>
          </a:p>
          <a:p>
            <a:pPr algn="l">
              <a:lnSpc>
                <a:spcPts val="3356"/>
              </a:lnSpc>
            </a:pPr>
            <a:endParaRPr lang="en-US" sz="2397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356"/>
              </a:lnSpc>
            </a:pPr>
            <a:r>
              <a:rPr lang="en-US" sz="2397" b="1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Features:</a:t>
            </a:r>
          </a:p>
          <a:p>
            <a:pPr algn="l">
              <a:lnSpc>
                <a:spcPts val="3356"/>
              </a:lnSpc>
            </a:pPr>
            <a:r>
              <a:rPr lang="en-US" sz="239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Highlight the major functionalities, capabilities, and unique components that make the solution effective.</a:t>
            </a:r>
          </a:p>
          <a:p>
            <a:pPr algn="l">
              <a:lnSpc>
                <a:spcPts val="3356"/>
              </a:lnSpc>
            </a:pPr>
            <a:endParaRPr lang="en-US" sz="2397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356"/>
              </a:lnSpc>
            </a:pPr>
            <a:r>
              <a:rPr lang="en-US" sz="2397" b="1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Innovation Edge:</a:t>
            </a:r>
          </a:p>
          <a:p>
            <a:pPr algn="l">
              <a:lnSpc>
                <a:spcPts val="3356"/>
              </a:lnSpc>
            </a:pPr>
            <a:r>
              <a:rPr lang="en-US" sz="239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Emphasize the distinctive aspects of the solution and explain how it offers an advantage over existing approaches.</a:t>
            </a:r>
          </a:p>
          <a:p>
            <a:pPr algn="l">
              <a:lnSpc>
                <a:spcPts val="3356"/>
              </a:lnSpc>
            </a:pPr>
            <a:endParaRPr lang="en-US" sz="2397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468398" y="716187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885135" y="1600197"/>
            <a:ext cx="16517730" cy="0"/>
          </a:xfrm>
          <a:prstGeom prst="line">
            <a:avLst/>
          </a:prstGeom>
          <a:ln w="104775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354127" y="1028700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3095124" y="330697"/>
            <a:ext cx="6239512" cy="105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32"/>
              </a:lnSpc>
              <a:spcBef>
                <a:spcPct val="0"/>
              </a:spcBef>
            </a:pPr>
            <a:r>
              <a:rPr lang="en-US" sz="6166" spc="314">
                <a:solidFill>
                  <a:srgbClr val="C1FF72"/>
                </a:solidFill>
                <a:latin typeface="Anton"/>
                <a:ea typeface="Anton"/>
                <a:cs typeface="Anton"/>
                <a:sym typeface="Anton"/>
              </a:rPr>
              <a:t>TECHNOLOGY STACK</a:t>
            </a:r>
          </a:p>
        </p:txBody>
      </p:sp>
      <p:sp>
        <p:nvSpPr>
          <p:cNvPr id="6" name="Freeform 6"/>
          <p:cNvSpPr/>
          <p:nvPr/>
        </p:nvSpPr>
        <p:spPr>
          <a:xfrm>
            <a:off x="1803157" y="341100"/>
            <a:ext cx="1177667" cy="1108446"/>
          </a:xfrm>
          <a:custGeom>
            <a:avLst/>
            <a:gdLst/>
            <a:ahLst/>
            <a:cxnLst/>
            <a:rect l="l" t="t" r="r" b="b"/>
            <a:pathLst>
              <a:path w="1177667" h="1108446">
                <a:moveTo>
                  <a:pt x="0" y="0"/>
                </a:moveTo>
                <a:lnTo>
                  <a:pt x="1177667" y="0"/>
                </a:lnTo>
                <a:lnTo>
                  <a:pt x="1177667" y="1108446"/>
                </a:lnTo>
                <a:lnTo>
                  <a:pt x="0" y="11084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1211252" y="855553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803157" y="2104109"/>
            <a:ext cx="7639607" cy="6656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8"/>
              </a:lnSpc>
              <a:spcBef>
                <a:spcPct val="0"/>
              </a:spcBef>
            </a:pPr>
            <a:r>
              <a:rPr lang="en-US" sz="2684" b="1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 Guidelines:</a:t>
            </a:r>
          </a:p>
          <a:p>
            <a:pPr algn="l">
              <a:lnSpc>
                <a:spcPts val="3758"/>
              </a:lnSpc>
              <a:spcBef>
                <a:spcPct val="0"/>
              </a:spcBef>
            </a:pPr>
            <a:r>
              <a:rPr lang="en-US" sz="268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Create an engaging and professional layout using relevant technology icons and visual elements.</a:t>
            </a:r>
          </a:p>
          <a:p>
            <a:pPr algn="l">
              <a:lnSpc>
                <a:spcPts val="3758"/>
              </a:lnSpc>
              <a:spcBef>
                <a:spcPct val="0"/>
              </a:spcBef>
            </a:pPr>
            <a:endParaRPr lang="en-US" sz="2684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758"/>
              </a:lnSpc>
              <a:spcBef>
                <a:spcPct val="0"/>
              </a:spcBef>
            </a:pPr>
            <a:r>
              <a:rPr lang="en-US" sz="2684" b="1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Technology Documentation:</a:t>
            </a:r>
          </a:p>
          <a:p>
            <a:pPr algn="l">
              <a:lnSpc>
                <a:spcPts val="3758"/>
              </a:lnSpc>
              <a:spcBef>
                <a:spcPct val="0"/>
              </a:spcBef>
            </a:pPr>
            <a:r>
              <a:rPr lang="en-US" sz="268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Clearly showcase all frameworks, libraries, platforms, and development tools used in the solution.</a:t>
            </a:r>
          </a:p>
          <a:p>
            <a:pPr algn="l">
              <a:lnSpc>
                <a:spcPts val="3758"/>
              </a:lnSpc>
              <a:spcBef>
                <a:spcPct val="0"/>
              </a:spcBef>
            </a:pPr>
            <a:endParaRPr lang="en-US" sz="2684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758"/>
              </a:lnSpc>
              <a:spcBef>
                <a:spcPct val="0"/>
              </a:spcBef>
            </a:pPr>
            <a:r>
              <a:rPr lang="en-US" sz="2684" b="1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Presentation Clarity:</a:t>
            </a:r>
          </a:p>
          <a:p>
            <a:pPr algn="l">
              <a:lnSpc>
                <a:spcPts val="3758"/>
              </a:lnSpc>
              <a:spcBef>
                <a:spcPct val="0"/>
              </a:spcBef>
            </a:pPr>
            <a:r>
              <a:rPr lang="en-US" sz="268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Maintain a clean, well-structured design that communicates information clearly and remains easy to understand.</a:t>
            </a:r>
          </a:p>
        </p:txBody>
      </p:sp>
      <p:sp>
        <p:nvSpPr>
          <p:cNvPr id="9" name="AutoShape 9"/>
          <p:cNvSpPr/>
          <p:nvPr/>
        </p:nvSpPr>
        <p:spPr>
          <a:xfrm flipH="1">
            <a:off x="10215265" y="1875739"/>
            <a:ext cx="26194" cy="7597443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flipH="1" flipV="1">
            <a:off x="9776223" y="2213043"/>
            <a:ext cx="7483077" cy="0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0428766" y="2286781"/>
            <a:ext cx="2556190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Technologies</a:t>
            </a:r>
          </a:p>
        </p:txBody>
      </p:sp>
      <p:sp>
        <p:nvSpPr>
          <p:cNvPr id="12" name="AutoShape 12"/>
          <p:cNvSpPr/>
          <p:nvPr/>
        </p:nvSpPr>
        <p:spPr>
          <a:xfrm flipH="1" flipV="1">
            <a:off x="10241459" y="9277350"/>
            <a:ext cx="7483077" cy="0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flipH="1">
            <a:off x="17240250" y="2161259"/>
            <a:ext cx="19050" cy="711609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885135" y="1650121"/>
            <a:ext cx="16517730" cy="0"/>
          </a:xfrm>
          <a:prstGeom prst="line">
            <a:avLst/>
          </a:prstGeom>
          <a:ln w="104775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354127" y="1028700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855271" y="363164"/>
            <a:ext cx="8759898" cy="1046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32"/>
              </a:lnSpc>
              <a:spcBef>
                <a:spcPct val="0"/>
              </a:spcBef>
            </a:pPr>
            <a:r>
              <a:rPr lang="en-US" sz="6166" spc="314">
                <a:solidFill>
                  <a:srgbClr val="C1FF72"/>
                </a:solidFill>
                <a:latin typeface="Anton"/>
                <a:ea typeface="Anton"/>
                <a:cs typeface="Anton"/>
                <a:sym typeface="Anton"/>
              </a:rPr>
              <a:t>FEASIBILITY &amp; IMPACT</a:t>
            </a:r>
          </a:p>
        </p:txBody>
      </p:sp>
      <p:sp>
        <p:nvSpPr>
          <p:cNvPr id="6" name="Freeform 6"/>
          <p:cNvSpPr/>
          <p:nvPr/>
        </p:nvSpPr>
        <p:spPr>
          <a:xfrm>
            <a:off x="1487477" y="439364"/>
            <a:ext cx="1177667" cy="1108446"/>
          </a:xfrm>
          <a:custGeom>
            <a:avLst/>
            <a:gdLst/>
            <a:ahLst/>
            <a:cxnLst/>
            <a:rect l="l" t="t" r="r" b="b"/>
            <a:pathLst>
              <a:path w="1177667" h="1108446">
                <a:moveTo>
                  <a:pt x="0" y="0"/>
                </a:moveTo>
                <a:lnTo>
                  <a:pt x="1177666" y="0"/>
                </a:lnTo>
                <a:lnTo>
                  <a:pt x="1177666" y="1108446"/>
                </a:lnTo>
                <a:lnTo>
                  <a:pt x="0" y="11084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094015" y="2458231"/>
            <a:ext cx="14446201" cy="6396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2"/>
              </a:lnSpc>
            </a:pPr>
            <a:r>
              <a:rPr lang="en-US" sz="2416" b="1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Implementation Viability:</a:t>
            </a:r>
          </a:p>
          <a:p>
            <a:pPr algn="l">
              <a:lnSpc>
                <a:spcPts val="3382"/>
              </a:lnSpc>
            </a:pPr>
            <a:r>
              <a:rPr lang="en-US" sz="241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Demonstrate how the proposed solution can be developed and deployed effectively within                                  the given time, resources, and constraints.</a:t>
            </a:r>
          </a:p>
          <a:p>
            <a:pPr algn="l">
              <a:lnSpc>
                <a:spcPts val="3382"/>
              </a:lnSpc>
            </a:pPr>
            <a:endParaRPr lang="en-US" sz="2416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382"/>
              </a:lnSpc>
            </a:pPr>
            <a:r>
              <a:rPr lang="en-US" sz="2416" b="1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Technical Foundation:</a:t>
            </a:r>
          </a:p>
          <a:p>
            <a:pPr algn="l">
              <a:lnSpc>
                <a:spcPts val="3382"/>
              </a:lnSpc>
            </a:pPr>
            <a:r>
              <a:rPr lang="en-US" sz="241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Highlight the technologies, platforms, frameworks, and tools that support the development and scalability of the solution.</a:t>
            </a:r>
          </a:p>
          <a:p>
            <a:pPr algn="l">
              <a:lnSpc>
                <a:spcPts val="3382"/>
              </a:lnSpc>
            </a:pPr>
            <a:endParaRPr lang="en-US" sz="2416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382"/>
              </a:lnSpc>
            </a:pPr>
            <a:r>
              <a:rPr lang="en-US" sz="2416" b="1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Expected Outcomes:</a:t>
            </a:r>
          </a:p>
          <a:p>
            <a:pPr algn="l">
              <a:lnSpc>
                <a:spcPts val="3382"/>
              </a:lnSpc>
            </a:pPr>
            <a:r>
              <a:rPr lang="en-US" sz="241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Outline the key benefits, measurable results, and positive impact that the proposed solution is expected to achieve.</a:t>
            </a:r>
          </a:p>
          <a:p>
            <a:pPr algn="l">
              <a:lnSpc>
                <a:spcPts val="3382"/>
              </a:lnSpc>
            </a:pPr>
            <a:endParaRPr lang="en-US" sz="2416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382"/>
              </a:lnSpc>
            </a:pPr>
            <a:r>
              <a:rPr lang="en-US" sz="2416" b="1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Conclusion:</a:t>
            </a:r>
          </a:p>
          <a:p>
            <a:pPr algn="l">
              <a:lnSpc>
                <a:spcPts val="3382"/>
              </a:lnSpc>
            </a:pPr>
            <a:r>
              <a:rPr lang="en-US" sz="241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Summarize why the solution stands out, emphasizing its innovation, practicality, and potential to create meaningful impact.</a:t>
            </a:r>
          </a:p>
        </p:txBody>
      </p:sp>
      <p:sp>
        <p:nvSpPr>
          <p:cNvPr id="8" name="AutoShape 8"/>
          <p:cNvSpPr/>
          <p:nvPr/>
        </p:nvSpPr>
        <p:spPr>
          <a:xfrm>
            <a:off x="1506527" y="1181100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028700" y="1619845"/>
            <a:ext cx="16517730" cy="0"/>
          </a:xfrm>
          <a:prstGeom prst="line">
            <a:avLst/>
          </a:prstGeom>
          <a:ln w="104775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354127" y="1028700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2333463" y="406249"/>
            <a:ext cx="8804780" cy="2112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92"/>
              </a:lnSpc>
            </a:pPr>
            <a:r>
              <a:rPr lang="en-US" sz="6066" spc="309">
                <a:solidFill>
                  <a:srgbClr val="C1FF72"/>
                </a:solidFill>
                <a:latin typeface="Anton"/>
                <a:ea typeface="Anton"/>
                <a:cs typeface="Anton"/>
                <a:sym typeface="Anton"/>
              </a:rPr>
              <a:t>SUBMISSION GUIDELINES</a:t>
            </a:r>
          </a:p>
          <a:p>
            <a:pPr algn="ctr">
              <a:lnSpc>
                <a:spcPts val="8492"/>
              </a:lnSpc>
              <a:spcBef>
                <a:spcPct val="0"/>
              </a:spcBef>
            </a:pPr>
            <a:endParaRPr lang="en-US" sz="6066" spc="309">
              <a:solidFill>
                <a:srgbClr val="C1FF72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610367" y="373287"/>
            <a:ext cx="1177667" cy="1108446"/>
          </a:xfrm>
          <a:custGeom>
            <a:avLst/>
            <a:gdLst/>
            <a:ahLst/>
            <a:cxnLst/>
            <a:rect l="l" t="t" r="r" b="b"/>
            <a:pathLst>
              <a:path w="1177667" h="1108446">
                <a:moveTo>
                  <a:pt x="0" y="0"/>
                </a:moveTo>
                <a:lnTo>
                  <a:pt x="1177666" y="0"/>
                </a:lnTo>
                <a:lnTo>
                  <a:pt x="1177666" y="1108446"/>
                </a:lnTo>
                <a:lnTo>
                  <a:pt x="0" y="11084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479688" y="2339579"/>
            <a:ext cx="13674712" cy="43336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39966" lvl="1" indent="-319983" algn="l">
              <a:lnSpc>
                <a:spcPts val="5839"/>
              </a:lnSpc>
              <a:buFont typeface="Arial"/>
              <a:buChar char="•"/>
            </a:pPr>
            <a:r>
              <a:rPr lang="en-US" sz="296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Maximum 6 slides required (including title slide)</a:t>
            </a:r>
          </a:p>
          <a:p>
            <a:pPr marL="639966" lvl="1" indent="-319983" algn="l">
              <a:lnSpc>
                <a:spcPts val="5839"/>
              </a:lnSpc>
              <a:buFont typeface="Arial"/>
              <a:buChar char="•"/>
            </a:pPr>
            <a:r>
              <a:rPr lang="en-US" sz="296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 visuals: diagrams, infographics, and images instead of lengthy text</a:t>
            </a:r>
          </a:p>
          <a:p>
            <a:pPr marL="639966" lvl="1" indent="-319983" algn="l">
              <a:lnSpc>
                <a:spcPts val="5839"/>
              </a:lnSpc>
              <a:buFont typeface="Arial"/>
              <a:buChar char="•"/>
            </a:pPr>
            <a:r>
              <a:rPr lang="en-US" sz="296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Maintain clarity and conciseness in all explanations</a:t>
            </a:r>
          </a:p>
          <a:p>
            <a:pPr marL="639966" lvl="1" indent="-319983" algn="l">
              <a:lnSpc>
                <a:spcPts val="5839"/>
              </a:lnSpc>
              <a:buFont typeface="Arial"/>
              <a:buChar char="•"/>
            </a:pPr>
            <a:r>
              <a:rPr lang="en-US" sz="296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Ensure originality and innovation in your concept</a:t>
            </a:r>
          </a:p>
          <a:p>
            <a:pPr marL="639966" lvl="1" indent="-319983" algn="l">
              <a:lnSpc>
                <a:spcPts val="5839"/>
              </a:lnSpc>
              <a:buFont typeface="Arial"/>
              <a:buChar char="•"/>
            </a:pPr>
            <a:r>
              <a:rPr lang="en-US" sz="296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Follow template structure without modifying required sections</a:t>
            </a:r>
          </a:p>
          <a:p>
            <a:pPr marL="639966" lvl="1" indent="-319983" algn="l">
              <a:lnSpc>
                <a:spcPts val="5839"/>
              </a:lnSpc>
              <a:buFont typeface="Arial"/>
              <a:buChar char="•"/>
            </a:pPr>
            <a:r>
              <a:rPr lang="en-US" sz="2964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Submit in PDF format only - other formats will not be accepted</a:t>
            </a:r>
          </a:p>
        </p:txBody>
      </p:sp>
      <p:sp>
        <p:nvSpPr>
          <p:cNvPr id="8" name="AutoShape 8"/>
          <p:cNvSpPr/>
          <p:nvPr/>
        </p:nvSpPr>
        <p:spPr>
          <a:xfrm>
            <a:off x="1211252" y="1243422"/>
            <a:ext cx="0" cy="1315231"/>
          </a:xfrm>
          <a:prstGeom prst="line">
            <a:avLst/>
          </a:prstGeom>
          <a:ln w="38100" cap="flat">
            <a:solidFill>
              <a:srgbClr val="249344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399</Words>
  <Application>Microsoft Office PowerPoint</Application>
  <PresentationFormat>Custom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Canva Sans Bold</vt:lpstr>
      <vt:lpstr>Calibri</vt:lpstr>
      <vt:lpstr>Anton</vt:lpstr>
      <vt:lpstr>Canva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infothon 7.0 template</dc:title>
  <cp:lastModifiedBy>Sukrutha k</cp:lastModifiedBy>
  <cp:revision>2</cp:revision>
  <dcterms:created xsi:type="dcterms:W3CDTF">2006-08-16T00:00:00Z</dcterms:created>
  <dcterms:modified xsi:type="dcterms:W3CDTF">2026-09-12T18:05:11Z</dcterms:modified>
  <dc:identifier>DAHU_niiCtg</dc:identifier>
</cp:coreProperties>
</file>